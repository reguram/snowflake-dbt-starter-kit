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From Raw Data to Natural Language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9B5E8"/>
                </a:solidFill>
                <a:latin typeface="Calibri"/>
              </a:defRPr>
            </a:pPr>
            <a:r>
              <a:t>Intelligent Analytics on Snowflake with Semantic Views, Cortex Agents &amp; Snowflake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57600"/>
            <a:ext cx="3657600" cy="2743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CF0F1"/>
                </a:solidFill>
                <a:latin typeface="Calibri"/>
              </a:defRPr>
            </a:pPr>
            <a:r>
              <a:t>Presented to Novo Nordisk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CF0F1"/>
                </a:solidFill>
                <a:latin typeface="Calibri"/>
              </a:defRPr>
            </a:pPr>
            <a:r>
              <a:t>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3F"/>
                </a:solidFill>
                <a:latin typeface="Calibri"/>
              </a:defRPr>
            </a:pPr>
            <a:r>
              <a:t>The Analytics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Today's path from question to answer is too slow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011680" cy="1645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1.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Business user has</a:t>
            </a:r>
            <a:br/>
            <a:r>
              <a:t>a data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828800"/>
            <a:ext cx="2011680" cy="1645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2.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Files ticket to the</a:t>
            </a:r>
            <a:br/>
            <a:r>
              <a:t>analytics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828800"/>
            <a:ext cx="2011680" cy="1645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3.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Analyst writes SQL,</a:t>
            </a:r>
            <a:br/>
            <a:r>
              <a:t>builds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828800"/>
            <a:ext cx="2011680" cy="1645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4.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"Actually, I meant</a:t>
            </a:r>
            <a:br/>
            <a:r>
              <a:t>this instead..."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828800"/>
            <a:ext cx="2011680" cy="1645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5. Iterate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Rinse and repeat.</a:t>
            </a:r>
            <a:br/>
            <a:r>
              <a:t>Days → Weeks.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5029200" cy="22860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Cost of Waiting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805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Analytics team becomes a bottleneck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Every question — no matter how simple — needs their time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By the time you get the answer, the moment has passed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In pharma, timely data = better decisions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029200" cy="22860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069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Every authorized user asks data questions in English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Immediate, accurate, governed answers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No SQL knowledge required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Self-service analytics that actually 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3F"/>
                </a:solidFill>
                <a:latin typeface="Calibri"/>
              </a:defRPr>
            </a:pPr>
            <a:r>
              <a:t>Our Approach: Three Layers of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1645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Layer 1: Medallion 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Bronze (Staging) — Raw data, cleaned &amp; renamed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Silver (Intermediate) — Business logic, joins, enrichments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Gold (Marts) — Consumption-ready facts &amp; dimensions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Automated tests at every layer: PK, FK, accepted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CF0F1"/>
                </a:solidFill>
                <a:latin typeface="Calibri"/>
              </a:defRPr>
            </a:pPr>
            <a:r>
              <a:t>dbt-powered data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698480" cy="1645920"/>
          </a:xfrm>
          <a:prstGeom prst="roundRect">
            <a:avLst/>
          </a:prstGeom>
          <a:solidFill>
            <a:srgbClr val="16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Layer 2: Semantic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Native Snowflake objects on top of mart tables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Dimensions — things you filter/group by (date, category, region)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Metrics — things you aggregate (revenue, count, average)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Verified Queries — known-good SQL examples for AI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CF0F1"/>
                </a:solidFill>
                <a:latin typeface="Calibri"/>
              </a:defRPr>
            </a:pPr>
            <a:r>
              <a:t>Teaching Snowflake what the data means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Layer 3: Cortex Agents +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Cortex Agents convert natural language → SQL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Read semantic views for dimension/metric understanding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Snowflake Intelligence — org-wide NL querying in Snowsight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Any authorized user types English, gets accurate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CF0F1"/>
                </a:solidFill>
                <a:latin typeface="Calibri"/>
              </a:defRPr>
            </a:pPr>
            <a:r>
              <a:t>Making data conversational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3F"/>
                </a:solidFill>
                <a:latin typeface="Calibri"/>
              </a:defRPr>
            </a:pPr>
            <a:r>
              <a:t>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Source → Models → Semantic Views → Agent → Intelligence → User Question →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1508760" cy="128016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5544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Raw Data</a:t>
            </a:r>
            <a:br/>
            <a:r>
              <a:t>in 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21488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Any database</a:t>
            </a:r>
            <a:br/>
            <a:r>
              <a:t>any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74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9B5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43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B5E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38528" y="1463040"/>
            <a:ext cx="1508760" cy="12801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5544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Auto-Discovery</a:t>
            </a:r>
            <a:br/>
            <a:r>
              <a:t>&amp; Staging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1488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Profile tables</a:t>
            </a:r>
            <a:br/>
            <a:r>
              <a:t>generate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874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9B5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1143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B5E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2736" y="1463040"/>
            <a:ext cx="1508760" cy="12801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15544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dbt Build</a:t>
            </a:r>
            <a:br/>
            <a:r>
              <a:t>&amp;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21488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Medallion layers</a:t>
            </a:r>
            <a:br/>
            <a:r>
              <a:t>quality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5776" y="1874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9B5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143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B5E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66944" y="1463040"/>
            <a:ext cx="1508760" cy="1280160"/>
          </a:xfrm>
          <a:prstGeom prst="roundRect">
            <a:avLst/>
          </a:prstGeom>
          <a:solidFill>
            <a:srgbClr val="16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15544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Semantic View</a:t>
            </a:r>
            <a:br/>
            <a:r>
              <a:t>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21488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Classify dims</a:t>
            </a:r>
            <a:br/>
            <a:r>
              <a:t>&amp;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4" y="1874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9B5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4" y="1143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B5E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31152" y="1463040"/>
            <a:ext cx="1508760" cy="1280160"/>
          </a:xfrm>
          <a:prstGeom prst="roundRect">
            <a:avLst/>
          </a:prstGeom>
          <a:solidFill>
            <a:srgbClr val="16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04304" y="15544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Verified</a:t>
            </a:r>
            <a:br/>
            <a:r>
              <a:t>Queries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21488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Embed known-good</a:t>
            </a:r>
            <a:br/>
            <a:r>
              <a:t>SQL examples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1874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9B5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1143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B5E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463040"/>
            <a:ext cx="1508760" cy="128016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68512" y="15544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Cortex Agent</a:t>
            </a:r>
            <a:br/>
            <a:r>
              <a:t>Creation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21488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Wire agent to</a:t>
            </a:r>
            <a:br/>
            <a:r>
              <a:t>semantic 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1874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9B5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143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B5E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59568" y="1463040"/>
            <a:ext cx="1508760" cy="128016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0" y="15544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Snowflake</a:t>
            </a:r>
            <a:br/>
            <a:r>
              <a:t>Intelligence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21488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Org-wide NL</a:t>
            </a:r>
            <a:br/>
            <a:r>
              <a:t>querying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8208" y="1143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B5E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200400"/>
            <a:ext cx="2468880" cy="100584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&lt; 5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794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CF0F1"/>
                </a:solidFill>
                <a:latin typeface="Calibri"/>
              </a:defRPr>
            </a:pPr>
            <a:r>
              <a:t>Source Onboarding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3200400"/>
            <a:ext cx="2468880" cy="100584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Calibri"/>
              </a:defRPr>
            </a:pPr>
            <a:r>
              <a:t>85-95%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3794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CF0F1"/>
                </a:solidFill>
                <a:latin typeface="Calibri"/>
              </a:defRPr>
            </a:pPr>
            <a:r>
              <a:t>Query Accuracy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3200400"/>
            <a:ext cx="2468880" cy="100584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9B5E8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794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CF0F1"/>
                </a:solidFill>
                <a:latin typeface="Calibri"/>
              </a:defRPr>
            </a:pPr>
            <a:r>
              <a:t>Semantic Coverage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3200400"/>
            <a:ext cx="2468880" cy="100584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0 SQL Required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794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CF0F1"/>
                </a:solidFill>
                <a:latin typeface="Calibri"/>
              </a:defRPr>
            </a:pPr>
            <a:r>
              <a:t>For Business Users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273F"/>
                </a:solidFill>
                <a:latin typeface="Calibri"/>
              </a:defRPr>
            </a:pPr>
            <a:r>
              <a:t>Key Automation Capabilities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731520" y="50292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Auto-Discovery 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Profiles any Snowflake table, generates staging + marts +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Days →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Semantic View Batch Sync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Scans all marts, auto-classifies dims/metrics, generates DDL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100% coverage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Verified Query Post-Hook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Embeds known-good SQL in semantic views via dbt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Improves AI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One-Stop Agent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Orchestrates entire pipeline: discover → build → semantic → deploy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Single interface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3F"/>
                </a:solidFill>
                <a:latin typeface="Calibri"/>
              </a:defRPr>
            </a:pPr>
            <a:r>
              <a:t>Semantic Views: The Key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Native Snowflake objects that describe your data in business terms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Semantic View Structure (sem_revenue_analysis)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TABLE: fct_sales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DIMENSIONS (filter / group by):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sales_date   → 'Date of transaction'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maker        → 'Brand / manufacturer'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item_category → 'Product category'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METRICS (aggregate):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total_revenue  = SUM(total_sales)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avg_price      = AVG(average_price)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order_count    = SUM(transaction_count)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VERIFIED QUERIES: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Q: 'Revenue by category?'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SQL: SELECT item_category, SUM(total_sales)...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273F"/>
                </a:solidFill>
                <a:latin typeface="Calibri"/>
              </a:defRPr>
            </a:pPr>
            <a:r>
              <a:t>How Cortex Analyst Uses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103120"/>
            <a:ext cx="5029200" cy="12801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176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User asks: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4231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"Show me Apple's revenue trend by month"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520439"/>
            <a:ext cx="5029200" cy="12801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5935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B5E8"/>
                </a:solidFill>
                <a:latin typeface="Calibri"/>
              </a:defRPr>
            </a:pPr>
            <a:r>
              <a:t>AI maps: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840479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"Apple" → maker dimension</a:t>
            </a:r>
            <a:br/>
            <a:r>
              <a:t>"revenue" → total_revenue metric (SUM)</a:t>
            </a:r>
            <a:br/>
            <a:r>
              <a:t>"by month" → DATE_TRUNC('month', sales_date)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937760"/>
            <a:ext cx="5029200" cy="12801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5010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AI generates: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2578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SELECT DATE_TRUNC('month', sales_date),</a:t>
            </a:r>
            <a:br/>
            <a:r>
              <a:t>       SUM(total_sales)</a:t>
            </a:r>
            <a:br/>
            <a:r>
              <a:t>FROM fct_sales</a:t>
            </a:r>
            <a:br/>
            <a:r>
              <a:t>WHERE maker = 'Apple'</a:t>
            </a:r>
            <a:br/>
            <a:r>
              <a:t>GROUP BY 1 ORDER BY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3F"/>
                </a:solidFill>
                <a:latin typeface="Calibri"/>
              </a:defRPr>
            </a:pPr>
            <a:r>
              <a:t>Verified Queries: The Accuracy Feedback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18288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Known-good SQL examples</a:t>
            </a:r>
            <a:br/>
            <a:r>
              <a:t>guide the AI — like giving</a:t>
            </a:r>
            <a:br/>
            <a:r>
              <a:t>a new analyst starter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188720"/>
            <a:ext cx="3383280" cy="18288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9B5E8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1737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Analytics team vets each</a:t>
            </a:r>
            <a:br/>
            <a:r>
              <a:t>query — business logic</a:t>
            </a:r>
            <a:br/>
            <a:r>
              <a:t>is guaranteed 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383280" cy="18288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Iterative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More questions → more verified</a:t>
            </a:r>
            <a:br/>
            <a:r>
              <a:t>queries → smarter AI.</a:t>
            </a:r>
            <a:br/>
            <a:r>
              <a:t>The system improves over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273F"/>
                </a:solidFill>
                <a:latin typeface="Calibri"/>
              </a:defRPr>
            </a:pPr>
            <a:r>
              <a:t>How Verified Queries Work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84048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Happens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Who Does It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 Define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Write verified query in schema.yml (question + SQL)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Data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 Build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dbt build runs post-hook macro → publishes to semantic view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Automated (CI/CD)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User asks similar question → AI references verified SQL as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Cortex Analyst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 Refine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Monitor question patterns → add new verified queries for gaps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Analytics Team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31520" y="5394960"/>
            <a:ext cx="10698480" cy="12801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Example Verified Query (in schema.yml)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name: revenue_by_category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question: "What was total revenue by product category?"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sql: "SELECT item_category, SUM(total_sales) FROM t GROUP BY item_category ORDER BY 2 DESC"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verified_by: analytics_team  |  verified_at: 2026-04-24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3F"/>
                </a:solidFill>
                <a:latin typeface="Calibri"/>
              </a:defRPr>
            </a:pPr>
            <a:r>
              <a:t>The Last Mile: Agent → Snowflake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Making data conversational for every user in the organization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01168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1: Create a Cortex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CREATE AGENT sales_analyst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USING (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  cortex_analyst_text_to_sql(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    semantic_view =&gt; 'SEM_REVENUE_ANALYSIS'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  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);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One SQL statement. Agent is 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03520" cy="20116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2: Register with Snowflake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Agent appears in Snowsight sidebar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Available org-wide to authorized roles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Users click 'Ask a question' and type English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No BI tool, no SQL, no analytics ticket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Copenhagen, Tokyo, New Jersey — same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273F"/>
                </a:solidFill>
                <a:latin typeface="Calibri"/>
              </a:defRPr>
            </a:pPr>
            <a:r>
              <a:t>The End-User 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2560320" cy="201168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FF"/>
                </a:solidFill>
                <a:latin typeface="Calibri"/>
              </a:defRPr>
            </a:pPr>
            <a:r>
              <a:t>User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"Top 5 products</a:t>
            </a:r>
            <a:br/>
            <a:r>
              <a:t>by revenue</a:t>
            </a:r>
            <a:br/>
            <a:r>
              <a:t>last quarter?"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B5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4480560"/>
            <a:ext cx="2560320" cy="201168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9B5E8"/>
                </a:solidFill>
                <a:latin typeface="Calibri"/>
              </a:defRPr>
            </a:pPr>
            <a:r>
              <a:t>Agent 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9377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Semantic view:</a:t>
            </a:r>
            <a:br/>
            <a:r>
              <a:t>dims, metrics,</a:t>
            </a:r>
            <a:br/>
            <a:r>
              <a:t>verified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B5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480560"/>
            <a:ext cx="2560320" cy="201168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CC71"/>
                </a:solidFill>
                <a:latin typeface="Calibri"/>
              </a:defRPr>
            </a:pPr>
            <a:r>
              <a:t>Agent Generates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377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SELECT product,</a:t>
            </a:r>
            <a:br/>
            <a:r>
              <a:t>SUM(revenue)</a:t>
            </a:r>
            <a:br/>
            <a:r>
              <a:t>...GROUP BY 1</a:t>
            </a:r>
            <a:br/>
            <a:r>
              <a:t>LIMIT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B5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4480560"/>
            <a:ext cx="2560320" cy="201168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CC71"/>
                </a:solidFill>
                <a:latin typeface="Calibri"/>
              </a:defRPr>
            </a:pPr>
            <a:r>
              <a:t>User Sees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9377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Instant table</a:t>
            </a:r>
            <a:br/>
            <a:r>
              <a:t>with results +</a:t>
            </a:r>
            <a:br/>
            <a:r>
              <a:t>follow-up chat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3F"/>
                </a:solidFill>
                <a:latin typeface="Calibri"/>
              </a:defRPr>
            </a:pPr>
            <a:r>
              <a:t>AI-Powered Development: 50 Skills + 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How we build and maintain the platform 10x faster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27432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50 AI Agent Skills (Auto-Activating)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17 dbt/custom skills: model gen, semantic views, code review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33 bundled Snowflake skills: Cortex AI, ML, governance, Iceberg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Auto-activate based on file being edited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Work across Claude Code, GitHub Copilot, Cortex Code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Key skills for this pipeline: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• snowflake-semantic-view-creator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• cortex-analyst-semantic-model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• semantic-view-batch-sync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• dbt-one-stop-agent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5029200" cy="2743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MCP Server (Model Context Protocol)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0116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Gives AI assistants direct Snowflake access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Tools available: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• generate_dbt_model — scaffold staging models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• generate_semantic_view — create semantic DDL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• run_dbt_command — build, test, compile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• review_sql — static analysis for best practices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• check_data_quality — run tests + pass/fail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  • deploy_agent — create &amp; register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273F"/>
                </a:solidFill>
                <a:latin typeface="Calibri"/>
              </a:defRPr>
            </a:pPr>
            <a:r>
              <a:t>Development Acceleration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502920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AI Skills + MCP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Onboard new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2-3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&lt; 30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Create semantic view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4-6 hours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&lt; 10 minutes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Full code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1-2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&lt; 5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Deploy Cortex Agent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1-2 hours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&lt; 5 minutes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End-to-end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1-2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1-2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3F"/>
                </a:solidFill>
                <a:latin typeface="Calibri"/>
              </a:defRPr>
            </a:pPr>
            <a:r>
              <a:t>Enterprise Governance &amp;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Every pipeline is tested, documented, and access-controlled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51760" cy="292608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ECC71"/>
                </a:solidFill>
                <a:latin typeface="Calibri"/>
              </a:defRPr>
            </a:pPr>
            <a:r>
              <a:t>Automated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Primary key: unique + not_null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Foreign keys: relationships tests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Data quality: accepted_values, ranges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Source freshness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554480"/>
            <a:ext cx="2651760" cy="292608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9B5E8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031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Every model described in schema.yml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Every column documented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Semantic views = living data dictionary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Verified queries = institutional knowledge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651760" cy="292608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9C12"/>
                </a:solidFill>
                <a:latin typeface="Calibri"/>
              </a:defRPr>
            </a:pPr>
            <a:r>
              <a:t>Quality Audits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Project-wide quality scan skill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Semantic view coverage audit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Missing tests detection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SELECT * and hard-coded schema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554480"/>
            <a:ext cx="2651760" cy="292608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4FF"/>
                </a:solidFill>
                <a:latin typeface="Calibri"/>
              </a:defRPr>
            </a:pPr>
            <a:r>
              <a:t>Access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1031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Snowflake native RBAC enforced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Agents inherit caller's role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Row-level &amp; column-level security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Full audit trail: source → 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Why This Matters for Pharma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Regulatory compliance requires data lineage and auditability — every query traceable to source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Column masking and row-level security ensure sensitive data is protected, even through NL queries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Verified queries encode approved business logic — no ad-hoc misinterpretation of metrics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Semantic views provide a governed vocabulary — 'revenue' means the same thing across the organization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3F"/>
                </a:solidFill>
                <a:latin typeface="Calibri"/>
              </a:defRPr>
            </a:pPr>
            <a:r>
              <a:t>Source-Agnostic: Any Data, Same Pipeline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Domain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Tables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Models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Semantic Views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COVID-19 Epidemiological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Public health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Japan E-Commerce Sales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Revenue &amp; product performance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US Census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Demographic &amp; geographic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Company Registry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Company &amp; country analytics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273F"/>
                </a:solidFill>
                <a:latin typeface="Calibri"/>
              </a:defRPr>
            </a:pPr>
            <a:r>
              <a:t>New Source Onboarding — 5 Steps, One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2011680" cy="18288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794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Run auto-discovery</a:t>
            </a:r>
            <a:br/>
            <a:r>
              <a:t>script on any</a:t>
            </a:r>
            <a:br/>
            <a:r>
              <a:t>Snowflake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749039"/>
            <a:ext cx="2011680" cy="18288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794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526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dbt build materializes</a:t>
            </a:r>
            <a:br/>
            <a:r>
              <a:t>staging → intermediate</a:t>
            </a:r>
            <a:br/>
            <a:r>
              <a:t>→ marts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749039"/>
            <a:ext cx="2011680" cy="18288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3794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Semantic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526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Batch sync creates</a:t>
            </a:r>
            <a:br/>
            <a:r>
              <a:t>semantic views for</a:t>
            </a:r>
            <a:br/>
            <a:r>
              <a:t>all new marts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749039"/>
            <a:ext cx="2011680" cy="18288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794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526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Deploy Cortex Agent</a:t>
            </a:r>
            <a:br/>
            <a:r>
              <a:t>linked to semantic</a:t>
            </a:r>
            <a:br/>
            <a:r>
              <a:t>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3749039"/>
            <a:ext cx="2011680" cy="18288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3794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526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Register agent for</a:t>
            </a:r>
            <a:br/>
            <a:r>
              <a:t>org-wide NL</a:t>
            </a:r>
            <a:br/>
            <a:r>
              <a:t>querying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760720"/>
            <a:ext cx="10698480" cy="822960"/>
          </a:xfrm>
          <a:prstGeom prst="roundRect">
            <a:avLst/>
          </a:prstGeom>
          <a:solidFill>
            <a:srgbClr val="001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Calibri"/>
              </a:defRPr>
            </a:pPr>
            <a:r>
              <a:t>For Novo Nordisk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309360"/>
            <a:ext cx="103327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Same pipeline applies to clinical trial data, supply chain, financials, manufacturing — any Snowflake-hosted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3F"/>
                </a:solidFill>
                <a:latin typeface="Calibri"/>
              </a:defRPr>
            </a:pPr>
            <a:r>
              <a:t>Live Example: Japan E-Commerce → Natural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273F"/>
                </a:solidFill>
                <a:latin typeface="Calibri"/>
              </a:defRPr>
            </a:pPr>
            <a:r>
              <a:t>Gold Mart: fct_sales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sales_date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Time Dimension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maker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Categorical Dimension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item_category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Categorical Dimension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total_sales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NUMBER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Metric (SUM)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average_price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Metric (AVG)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transaction_count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NUMBER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Metric (SUM)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273F"/>
                </a:solidFill>
                <a:latin typeface="Calibri"/>
              </a:defRPr>
            </a:pPr>
            <a:r>
              <a:t>Natural Language → SQL →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77724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"Total revenue last month"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029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  <a:latin typeface="Calibri"/>
              </a:defRPr>
            </a:pPr>
            <a:r>
              <a:t>→ ¥42.3M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60320"/>
            <a:ext cx="5029200" cy="77724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606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"Top 3 brands by sales"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944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  <a:latin typeface="Calibri"/>
              </a:defRPr>
            </a:pPr>
            <a:r>
              <a:t>→ Apple, Samsung, Sony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474720"/>
            <a:ext cx="5029200" cy="77724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"Monthly trend for Smartphones"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858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  <a:latin typeface="Calibri"/>
              </a:defRPr>
            </a:pPr>
            <a:r>
              <a:t>→ Time series: Jan→Dec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89120"/>
            <a:ext cx="5029200" cy="77724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"Compare Q1 vs Q2 by category"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7731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  <a:latin typeface="Calibri"/>
              </a:defRPr>
            </a:pPr>
            <a:r>
              <a:t>→ Pivot table with delta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What Makes This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Accurate — grounded in semantic view metadata, not AI guessing at column names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Governed — runs through Snowflake RBAC, users only see data they're authorized for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Instantaneous — no SQL writing, no dashboard building, no analytics ticket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Conversational — user can ask follow-up questions in the same session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3F"/>
                </a:solidFill>
                <a:latin typeface="Calibri"/>
              </a:defRPr>
            </a:pPr>
            <a:r>
              <a:t>Three Semantic Approaches — Choose What Fits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Snowflake Semantic Views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Cortex Analyst YAML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dbt Semantic Layer</a:t>
                      </a:r>
                    </a:p>
                  </a:txBody>
                  <a:tcPr>
                    <a:solidFill>
                      <a:srgbClr val="1127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Single-mart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Complex multi-table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Cross-platform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Richness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Dimensions + Metrics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Synonyms, sample values,</a:t>
                      </a:r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verified queries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Governed metric definitions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Native Snowflake 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YAML file on 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dbt Cloud, Tableau, Looker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AI Accuracy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Good (with verified queries)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Excellent (rich metadata)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N/A (not NL-focused)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Setup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Low (auto-classified)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Medium (agentic profiling)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High (MetricFlow config)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✅ PRIMARY approach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For terminology-rich domains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For BI tool consistency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114800"/>
            <a:ext cx="10698480" cy="22860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Recommendation for Novo Nordisk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Start with Snowflake Semantic Views — fastest path, native integration, auto-classified columns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Layer in Cortex Analyst YAML for clinical/scientific data where terminology matters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 → Synonyms map business jargon: 'adverse event' = 'AE' = 'side effect'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 → Sample values help AI understand valid inputs for categorical filters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 → Custom instructions encode domain-specific query rules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Use dbt Semantic Layer if you need the same metric definitions in Tableau/Looker/Power BI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All three approaches coexist in this platform — mix and match per data domain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3F"/>
                </a:solidFill>
                <a:latin typeface="Calibri"/>
              </a:defRPr>
            </a:pPr>
            <a:r>
              <a:t>Value for Novo Nordisk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27432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ECC71"/>
                </a:solidFill>
                <a:latin typeface="Calibri"/>
              </a:defRPr>
            </a:pPr>
            <a:r>
              <a:t>Business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Ask questions in English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Get answers in seconds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No SQL training needed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Follow-up in same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188720"/>
            <a:ext cx="2651760" cy="27432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9B5E8"/>
                </a:solidFill>
                <a:latin typeface="Calibri"/>
              </a:defRPr>
            </a:pPr>
            <a:r>
              <a:t>Analytics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Eliminate ad-hoc bottleneck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Focus on high-value analysis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Encode knowledge in verified queries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Semantic views = living 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2651760" cy="27432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4FF"/>
                </a:solidFill>
                <a:latin typeface="Calibri"/>
              </a:defRPr>
            </a:pPr>
            <a:r>
              <a:t>Data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Automated source onboarding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50 AI skills for 10x velocity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Quality gates ensure reliability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Clear medallion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188720"/>
            <a:ext cx="2651760" cy="27432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9C12"/>
                </a:solidFill>
                <a:latin typeface="Calibri"/>
              </a:defRPr>
            </a:pPr>
            <a:r>
              <a:t>IT /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7373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Native RBAC — no shadow analytics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Auditable Snowflake objects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Agent inherits caller's role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Full lineage: source → answer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698480" cy="2103120"/>
          </a:xfrm>
          <a:prstGeom prst="roundRect">
            <a:avLst/>
          </a:prstGeom>
          <a:solidFill>
            <a:srgbClr val="001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For Leadership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Democratized data access — every authorized user can query any data source in English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Faster time-to-decision — answers in seconds, not days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Reduced dependency on specialized SQL resources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Foundation for advanced AI: predictive analytics, anomaly detection, clinical trial insights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Scalable model — each new data source follows the same automated 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3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10312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  <a:br/>
            <a:r>
              <a:t>Weeks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148840"/>
            <a:ext cx="2103120" cy="22860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Deploy starter kit in your environment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Connect to first priority data source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Run auto-discovery &amp; generate models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dbt build + test all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63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1188720"/>
            <a:ext cx="2103120" cy="82296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234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Semantic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  <a:br/>
            <a:r>
              <a:t>Weeks 2-3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39" y="2148840"/>
            <a:ext cx="2103120" cy="22860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79" y="22402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Create semantic views for all marts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Define verified queries with SMEs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Run coverage audit — ensure no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1463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59" y="1188720"/>
            <a:ext cx="2103120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199" y="1234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199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  <a:br/>
            <a:r>
              <a:t>Weeks 3-4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59" y="2148840"/>
            <a:ext cx="2103120" cy="22860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199" y="22402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Create Cortex Agents per domain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Test with real business questions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Refine verified queries from feedback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Register with Snowflake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1463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79" y="1188720"/>
            <a:ext cx="210312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234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Pilot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  <a:br/>
            <a:r>
              <a:t>Weeks 4-6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79" y="2148840"/>
            <a:ext cx="2103120" cy="22860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19" y="22402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Enable for pilot user group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Monitor question patterns &amp; accuracy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Add verified queries for common Qs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Onboard additional data 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79" y="1463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188720"/>
            <a:ext cx="210312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1234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  <a:br/>
            <a:r>
              <a:t>Ongoing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2148840"/>
            <a:ext cx="2103120" cy="2286000"/>
          </a:xfrm>
          <a:prstGeom prst="round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2402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Self-service source onboarding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Clinical, supply chain, financial data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Domain-specific agent instructions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YAML models for terminology-rich domains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Why This Timeline Works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Infrastructure is pre-built — the Snowflake dbt Starter Kit is production-ready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Auto-discovery eliminates manual data modeling — new sources onboard in minutes, not days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Each phase delivers incremental value — you don't wait 6 weeks for the first result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The platform is self-reinforcing — more verified queries = better AI accuracy over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Future of Analytics Is Conversational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286000"/>
            <a:ext cx="3657600" cy="2743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CF0F1"/>
                </a:solidFill>
                <a:latin typeface="Calibri"/>
              </a:defRPr>
            </a:pPr>
            <a:r>
              <a:t>• Data learns to speak your language — ask in English, get accurate answers</a:t>
            </a:r>
          </a:p>
          <a:p>
            <a:pPr>
              <a:spcAft>
                <a:spcPts val="1200"/>
              </a:spcAft>
              <a:defRPr sz="1600">
                <a:solidFill>
                  <a:srgbClr val="ECF0F1"/>
                </a:solidFill>
                <a:latin typeface="Calibri"/>
              </a:defRPr>
            </a:pPr>
            <a:r>
              <a:t>• Semantic views + verified queries = governed, accurate text-to-SQL</a:t>
            </a:r>
          </a:p>
          <a:p>
            <a:pPr>
              <a:spcAft>
                <a:spcPts val="1200"/>
              </a:spcAft>
              <a:defRPr sz="1600">
                <a:solidFill>
                  <a:srgbClr val="ECF0F1"/>
                </a:solidFill>
                <a:latin typeface="Calibri"/>
              </a:defRPr>
            </a:pPr>
            <a:r>
              <a:t>• Snowflake Intelligence makes it organization-wide with one registration</a:t>
            </a:r>
          </a:p>
          <a:p>
            <a:pPr>
              <a:spcAft>
                <a:spcPts val="1200"/>
              </a:spcAft>
              <a:defRPr sz="1600">
                <a:solidFill>
                  <a:srgbClr val="ECF0F1"/>
                </a:solidFill>
                <a:latin typeface="Calibri"/>
              </a:defRPr>
            </a:pPr>
            <a:r>
              <a:t>• Automated pipeline: raw table → NL-queryable in a single session</a:t>
            </a:r>
          </a:p>
          <a:p>
            <a:pPr>
              <a:spcAft>
                <a:spcPts val="1200"/>
              </a:spcAft>
              <a:defRPr sz="1600">
                <a:solidFill>
                  <a:srgbClr val="ECF0F1"/>
                </a:solidFill>
                <a:latin typeface="Calibri"/>
              </a:defRPr>
            </a:pPr>
            <a:r>
              <a:t>• Production-grade: tested, documented, access-controlled, auditable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FF"/>
                </a:solidFill>
                <a:latin typeface="Calibri"/>
              </a:defRPr>
            </a:pPr>
            <a:r>
              <a:t>Let's discuss how to apply this to your priority data domains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